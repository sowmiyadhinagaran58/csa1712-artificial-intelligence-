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4" r:id="rId1"/>
  </p:sldMasterIdLst>
  <p:notesMasterIdLst>
    <p:notesMasterId r:id="rId22"/>
  </p:notesMasterIdLst>
  <p:sldIdLst>
    <p:sldId id="256" r:id="rId2"/>
    <p:sldId id="258" r:id="rId3"/>
    <p:sldId id="278" r:id="rId4"/>
    <p:sldId id="279" r:id="rId5"/>
    <p:sldId id="280" r:id="rId6"/>
    <p:sldId id="294" r:id="rId7"/>
    <p:sldId id="289" r:id="rId8"/>
    <p:sldId id="287" r:id="rId9"/>
    <p:sldId id="295" r:id="rId10"/>
    <p:sldId id="296" r:id="rId11"/>
    <p:sldId id="297" r:id="rId12"/>
    <p:sldId id="298" r:id="rId13"/>
    <p:sldId id="299" r:id="rId14"/>
    <p:sldId id="300" r:id="rId15"/>
    <p:sldId id="292" r:id="rId16"/>
    <p:sldId id="284" r:id="rId17"/>
    <p:sldId id="285" r:id="rId18"/>
    <p:sldId id="293" r:id="rId19"/>
    <p:sldId id="286" r:id="rId20"/>
    <p:sldId id="272" r:id="rId21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5" d="100"/>
          <a:sy n="25" d="100"/>
        </p:scale>
        <p:origin x="355" y="7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0223B-C401-4071-A399-86ED0CABA5A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769F0-84E0-4613-AF2B-3CCEABF1A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586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769F0-84E0-4613-AF2B-3CCEABF1A4A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293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51B89-F053-D72D-ED3C-739A07651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429E8-92CA-5DCB-BBED-BA4F53721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98A63-205A-FC01-F90E-81F3CAA21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B92D3-4FDE-9F4B-A8C4-83BACDDD5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769F0-84E0-4613-AF2B-3CCEABF1A4A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476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BF16F-98DA-04AE-2FEC-BD810548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DB843-C968-74A0-CD79-700DBE5DB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7B938-0D0C-CACB-783A-2E3A6EA52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36F49-A428-0668-DF1F-4CC9E757B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769F0-84E0-4613-AF2B-3CCEABF1A4A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029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B5988-AD3E-087C-DED8-D63970BA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2FBAB-2686-0602-E4EE-B003BE13A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D97F4-7669-9597-BB2E-5365D44CB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B932A-9332-29C4-6455-69FB28072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769F0-84E0-4613-AF2B-3CCEABF1A4A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790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769F0-84E0-4613-AF2B-3CCEABF1A4AB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30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37B8-2D90-3130-17DB-2E9BD30F0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BA861-EC9F-55F2-CC7A-F1EA78419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2577C-C36C-84CB-31CF-C5993B26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0D010-C3F2-3180-C5F0-55363A45F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53FF-37E5-3E6F-1A6B-4F8B54A2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54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3292-4DA0-3180-23E3-053ADF3B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2BA37-76C3-96CB-AFCF-E347AF2B3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3303F-CE15-D265-E587-F2885F225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EC22B-C8AA-A31F-28CA-9D454ABB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6B326-1489-7A8D-FD48-9FDCDD1C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707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AE85-4B0E-85B3-2A20-71D0EBE3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6F952-11BE-0DFD-E942-D589A55A7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75BE0-969E-0826-0AAC-7AD8AD958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0F7A5-94D6-3EAC-F848-0EEEA50E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11AA9-D0EF-4CDA-1366-116D1560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077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F9B95-06E0-F823-C498-5FEBE3D9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02D99-3832-6CF5-56C7-112C9ABDF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3D9C6-B7BA-18B4-4159-34DFE8D46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9F045-1103-9D2B-6D8C-D43BB6508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22EFC-DF2C-0006-1DB5-F615EA5B7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0ADF9-C792-2592-7178-1C355214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336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A6B3-4AC9-FF1A-A370-581A44F43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507AB-CAEC-E2F4-0897-BEC143C62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FA654-330A-2D5A-5F9A-41D9B932E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A5C212-AE4D-3285-8F13-EE3F13E69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CAD98-DD2A-CE9E-CB3D-B4937C018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D0398E-24B6-E1D4-257F-AA53BB97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1360E2-A66B-68B0-49F1-C13DF04D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99E454-E1DF-18AC-CFAB-9C2002C0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52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68FB-4846-E2E0-6CE3-B56A5FA66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661F0-7370-E6F6-51FA-4533C145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21A07-59C6-3F7E-C170-35CF7AEB2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95F5D-519C-BA46-A4E6-D60C6913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32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D204EC-5117-48F6-E355-562BE1999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F2723-3242-B7EC-6230-143DA0B0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B0910-788D-7B97-4258-B8E70829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8F90E-5248-FCD2-E33D-25C666B3A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F176-67A2-9D99-395F-0D971D70E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D6668-E123-2C55-FDCD-2C82F6CEA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F57F6-0148-CB45-67DC-8986BCC9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D55CE-B380-207B-D935-C66E7057D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1F511-65D6-DA02-FFEF-3BE21152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40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0523-B951-3586-6AF6-9FEB3B984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13837B-3128-8B75-61E3-BC4283A0A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A25D3-3F97-9D82-DA37-38A75CF8E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F733E-17DF-27F0-3745-683484466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AAF87-912E-FE9A-D9E7-C7FE37BA3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1DB14-69BF-B814-91FB-C6217215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1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F1F93-3DD1-5573-BD08-248B54BF3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42696-8AF6-D1DF-3BBB-BC9D4B692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D9E2B-5E3F-9589-369F-7E7B39D1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E54A8-8767-B4DF-4960-9597C924B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ABEA4-E6F7-C4D6-4709-1309E0DB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597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81B59D-4EAB-D2B3-BA56-FE0E5E233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94192-FF60-6EEC-FAC1-F9C9A0C4B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E3F83-167C-2F33-CEFB-A6DC41AC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929EB-81FB-9F06-739A-3821EECF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2F58A-2174-4DC0-355B-45B44740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541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7E680A-909E-D92F-59DA-D92F25290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B2A9A-A917-CE71-98FF-A26BCA128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4D7D2-CAF9-5F48-263B-93691BBBD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61B59-424A-594E-99F0-D44C1A7F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C6FC1-6BAF-127E-7888-3D495B4555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45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6289" y="2574551"/>
            <a:ext cx="16715422" cy="16741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spcBef>
                <a:spcPts val="95"/>
              </a:spcBef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Virtual Clinical Trial Simulator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Drug Dosage Prediction</a:t>
            </a:r>
            <a:endParaRPr lang="en-US" sz="5000" b="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39400" y="6515100"/>
            <a:ext cx="3152775" cy="1413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50000"/>
              </a:lnSpc>
              <a:spcBef>
                <a:spcPts val="95"/>
              </a:spcBef>
            </a:pPr>
            <a:r>
              <a:rPr lang="en-IN" sz="3200" b="1" dirty="0">
                <a:latin typeface="Times New Roman"/>
                <a:cs typeface="Times New Roman"/>
              </a:rPr>
              <a:t>Guided</a:t>
            </a:r>
            <a:r>
              <a:rPr lang="en-IN" sz="3200" b="1" spc="-20" dirty="0">
                <a:latin typeface="Times New Roman"/>
                <a:cs typeface="Times New Roman"/>
              </a:rPr>
              <a:t> </a:t>
            </a:r>
            <a:r>
              <a:rPr lang="en-IN" sz="3200" b="1" spc="-25" dirty="0">
                <a:latin typeface="Times New Roman"/>
                <a:cs typeface="Times New Roman"/>
              </a:rPr>
              <a:t>By </a:t>
            </a:r>
          </a:p>
          <a:p>
            <a:pPr marL="12700" marR="5080" indent="-635" algn="ctr">
              <a:lnSpc>
                <a:spcPct val="150000"/>
              </a:lnSpc>
              <a:spcBef>
                <a:spcPts val="95"/>
              </a:spcBef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R. Veeramani</a:t>
            </a:r>
            <a:endParaRPr lang="en-IN" sz="3200" spc="-1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3DD4D-AC0E-FFEF-A0E6-9C87B9881758}"/>
              </a:ext>
            </a:extLst>
          </p:cNvPr>
          <p:cNvSpPr txBox="1"/>
          <p:nvPr/>
        </p:nvSpPr>
        <p:spPr>
          <a:xfrm>
            <a:off x="1371600" y="6390066"/>
            <a:ext cx="480060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 spc="-10" dirty="0">
                <a:latin typeface="Times New Roman"/>
                <a:cs typeface="Times New Roman"/>
              </a:rPr>
              <a:t>Presented By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Rathika. S (192419042)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Sowmiya. D (192511063)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Poorna. B (192524094)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Sandhya. B (192311292)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000" spc="-10" dirty="0">
              <a:latin typeface="Times New Roman"/>
              <a:cs typeface="Times New Roman"/>
            </a:endParaRP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821F990C-6D81-925D-8FFA-58F22C5FB39B}"/>
              </a:ext>
            </a:extLst>
          </p:cNvPr>
          <p:cNvSpPr txBox="1"/>
          <p:nvPr/>
        </p:nvSpPr>
        <p:spPr>
          <a:xfrm>
            <a:off x="2028301" y="4768076"/>
            <a:ext cx="14820613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CSA1712 - </a:t>
            </a:r>
            <a:r>
              <a:rPr lang="en-IN" sz="4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  <a:endParaRPr lang="en-US" sz="48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BC0630-C3B1-0715-1ADB-AA508E828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504"/>
          <a:stretch>
            <a:fillRect/>
          </a:stretch>
        </p:blipFill>
        <p:spPr>
          <a:xfrm>
            <a:off x="57078" y="0"/>
            <a:ext cx="9285739" cy="2275340"/>
          </a:xfrm>
          <a:prstGeom prst="rect">
            <a:avLst/>
          </a:prstGeom>
        </p:spPr>
      </p:pic>
      <p:sp>
        <p:nvSpPr>
          <p:cNvPr id="9" name="Freeform 25">
            <a:extLst>
              <a:ext uri="{FF2B5EF4-FFF2-40B4-BE49-F238E27FC236}">
                <a16:creationId xmlns:a16="http://schemas.microsoft.com/office/drawing/2014/main" id="{C03148E1-AAE6-3804-7C31-728987043AA6}"/>
              </a:ext>
            </a:extLst>
          </p:cNvPr>
          <p:cNvSpPr/>
          <p:nvPr/>
        </p:nvSpPr>
        <p:spPr>
          <a:xfrm>
            <a:off x="372284" y="376850"/>
            <a:ext cx="1656017" cy="1685735"/>
          </a:xfrm>
          <a:custGeom>
            <a:avLst/>
            <a:gdLst/>
            <a:ahLst/>
            <a:cxnLst/>
            <a:rect l="l" t="t" r="r" b="b"/>
            <a:pathLst>
              <a:path w="2208022" h="2247646">
                <a:moveTo>
                  <a:pt x="0" y="0"/>
                </a:moveTo>
                <a:lnTo>
                  <a:pt x="2208022" y="0"/>
                </a:lnTo>
                <a:lnTo>
                  <a:pt x="2208022" y="2247646"/>
                </a:lnTo>
                <a:lnTo>
                  <a:pt x="0" y="224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821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A8F0663-B082-C69D-7577-301A1ACD81E6}"/>
              </a:ext>
            </a:extLst>
          </p:cNvPr>
          <p:cNvGrpSpPr/>
          <p:nvPr/>
        </p:nvGrpSpPr>
        <p:grpSpPr>
          <a:xfrm>
            <a:off x="16325706" y="363153"/>
            <a:ext cx="1524000" cy="1554480"/>
            <a:chOff x="0" y="0"/>
            <a:chExt cx="2032000" cy="2072640"/>
          </a:xfrm>
        </p:grpSpPr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0B54F923-4EC6-2D90-8C69-57E069ED500B}"/>
                </a:ext>
              </a:extLst>
            </p:cNvPr>
            <p:cNvSpPr/>
            <p:nvPr/>
          </p:nvSpPr>
          <p:spPr>
            <a:xfrm>
              <a:off x="0" y="0"/>
              <a:ext cx="2032000" cy="2072640"/>
            </a:xfrm>
            <a:custGeom>
              <a:avLst/>
              <a:gdLst/>
              <a:ahLst/>
              <a:cxnLst/>
              <a:rect l="l" t="t" r="r" b="b"/>
              <a:pathLst>
                <a:path w="2032000" h="2072640">
                  <a:moveTo>
                    <a:pt x="0" y="0"/>
                  </a:moveTo>
                  <a:lnTo>
                    <a:pt x="2032000" y="0"/>
                  </a:lnTo>
                  <a:lnTo>
                    <a:pt x="203200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61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28">
            <a:extLst>
              <a:ext uri="{FF2B5EF4-FFF2-40B4-BE49-F238E27FC236}">
                <a16:creationId xmlns:a16="http://schemas.microsoft.com/office/drawing/2014/main" id="{FBD8AB0F-584A-73B0-9FEC-2170FECAB20E}"/>
              </a:ext>
            </a:extLst>
          </p:cNvPr>
          <p:cNvSpPr txBox="1"/>
          <p:nvPr/>
        </p:nvSpPr>
        <p:spPr>
          <a:xfrm>
            <a:off x="2971800" y="-116888"/>
            <a:ext cx="11629901" cy="300807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4799"/>
              </a:lnSpc>
            </a:pPr>
            <a:r>
              <a:rPr lang="en-US" sz="3999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SIMATS ENGINEERING</a:t>
            </a:r>
          </a:p>
          <a:p>
            <a:pPr algn="ctr">
              <a:lnSpc>
                <a:spcPts val="3599"/>
              </a:lnSpc>
            </a:pPr>
            <a:r>
              <a:rPr lang="en-US" sz="2999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Saveetha Institute of Medical and Technical Sciences</a:t>
            </a:r>
          </a:p>
          <a:p>
            <a:pPr algn="ctr">
              <a:lnSpc>
                <a:spcPts val="3599"/>
              </a:lnSpc>
            </a:pPr>
            <a:r>
              <a:rPr lang="en-US" sz="2999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Chennai-602105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77547" y="423767"/>
            <a:ext cx="16751439" cy="1296960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lnSpc>
                <a:spcPct val="100000"/>
              </a:lnSpc>
              <a:spcBef>
                <a:spcPts val="100"/>
              </a:spcBef>
            </a:pP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09600" y="2818227"/>
            <a:ext cx="16287646" cy="70450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development is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and lengthy process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trials require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time, cost, and resources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respond differently to 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drug and dose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weight, health conditions, organ function, and genetics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influence drug response.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 suitable drug and dose is therefore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 task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and drug-related factors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prediction.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clinical trials can test treatment scenarios using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patients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helps study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efficacy, risk, and dose-response patterns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drug comparison, and virtual patient simulation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in-silico approach for early-stage drug and dosage analysis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7541" y="102370"/>
            <a:ext cx="1802891" cy="180289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D62E6-04DA-B841-B6C2-0C9DAACB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0DB1132C-5BB8-4C2E-5C5E-CB10AF9346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547" y="423767"/>
            <a:ext cx="16751439" cy="1296960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b="1" spc="-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1002912-DD0D-4A3B-E13A-75429A800DD7}"/>
              </a:ext>
            </a:extLst>
          </p:cNvPr>
          <p:cNvSpPr txBox="1"/>
          <p:nvPr/>
        </p:nvSpPr>
        <p:spPr>
          <a:xfrm>
            <a:off x="990600" y="2705100"/>
            <a:ext cx="16751439" cy="6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evaluate drug response for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patient profiles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multiple dose levels can require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trial populations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trials require significant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resources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variability makes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dose selection more complex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Early-stage population analysis is difficult using only real patients. 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addressed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simulation-based system is needed to compare drugs,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dose-response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evaluate treatment performance across synthetic patients.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DB883BA0-1085-6FA7-2E41-8860EDFB5F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7541" y="102370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3AE74BF5-5BB8-9C2F-2BE6-4F1B7E5F613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42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1A62-5BA9-B749-D5E4-1F535D70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9A8EEE5B-6E36-D176-C296-D37B00EE7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547" y="423767"/>
            <a:ext cx="16751439" cy="1296960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lnSpc>
                <a:spcPct val="100000"/>
              </a:lnSpc>
              <a:spcBef>
                <a:spcPts val="100"/>
              </a:spcBef>
            </a:pP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651032A-A735-0959-AD39-38E9CD6532A1}"/>
              </a:ext>
            </a:extLst>
          </p:cNvPr>
          <p:cNvSpPr txBox="1"/>
          <p:nvPr/>
        </p:nvSpPr>
        <p:spPr>
          <a:xfrm>
            <a:off x="1025849" y="2705100"/>
            <a:ext cx="17262151" cy="6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develop an AI-based virtual clinical trial simulator for drug dosage prediction and treatment comparison.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structured patient medical profile.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treatment and drug selection.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candidate drugs using AI-based analysis.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best simulated dose.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synthetic virtual patients.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efficacy, risk and dose-response.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2BB38041-33CE-220A-ED94-2DE07A325A2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7562" y="452035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0C394BEB-7809-5084-2ECC-86883BEFFEC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26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291CF-227B-00DD-029B-D4024585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88002C47-8F4B-6C60-86F6-C87D501BF3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547" y="423767"/>
            <a:ext cx="16751439" cy="1296960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lnSpc>
                <a:spcPct val="100000"/>
              </a:lnSpc>
              <a:spcBef>
                <a:spcPts val="100"/>
              </a:spcBef>
            </a:pP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66B97842-7A48-6D28-E78F-BBE0DE0264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7540" y="520177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04CD6731-AB5B-9646-FE83-7EDC0B9B569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A559EE-3D82-FD66-523F-F96427389B3A}"/>
              </a:ext>
            </a:extLst>
          </p:cNvPr>
          <p:cNvSpPr txBox="1"/>
          <p:nvPr/>
        </p:nvSpPr>
        <p:spPr>
          <a:xfrm>
            <a:off x="929151" y="2743014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the Interactive Tool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325221-6EC0-42A5-5168-A942C3680D75}"/>
              </a:ext>
            </a:extLst>
          </p:cNvPr>
          <p:cNvSpPr txBox="1"/>
          <p:nvPr/>
        </p:nvSpPr>
        <p:spPr>
          <a:xfrm>
            <a:off x="8509540" y="2743014"/>
            <a:ext cx="9143991" cy="722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Profile Input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Enter demographic, medical, allergy, and medication details.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Selection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Select the condition or treatment area.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Selection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Choose one or two existing or experimental drugs.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and drug-related factors.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Dose Simulation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Test multiple dose levels and calculate simulated efficacy and risk.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Patient Generation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Create a synthetic patient cohort.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Trial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Evaluate the selected drug across the virtual population.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Display the best simulated dose, graphs, and trial results.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39BE66-F916-FBE6-D728-4CBC19EC2180}"/>
              </a:ext>
            </a:extLst>
          </p:cNvPr>
          <p:cNvCxnSpPr/>
          <p:nvPr/>
        </p:nvCxnSpPr>
        <p:spPr>
          <a:xfrm>
            <a:off x="8001000" y="2781300"/>
            <a:ext cx="0" cy="7010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A925D27-2E19-687F-85AC-185D8F18C5CF}"/>
              </a:ext>
            </a:extLst>
          </p:cNvPr>
          <p:cNvSpPr/>
          <p:nvPr/>
        </p:nvSpPr>
        <p:spPr>
          <a:xfrm>
            <a:off x="2023375" y="3419962"/>
            <a:ext cx="2957048" cy="74522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Medical Profile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C6BC11-492B-96BC-1093-BF452DDA6DD5}"/>
              </a:ext>
            </a:extLst>
          </p:cNvPr>
          <p:cNvSpPr/>
          <p:nvPr/>
        </p:nvSpPr>
        <p:spPr>
          <a:xfrm>
            <a:off x="2035567" y="4480814"/>
            <a:ext cx="2957048" cy="74522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 &amp; Drug Selection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F59342-8FA3-E50C-BC1C-4B4B22A94BCB}"/>
              </a:ext>
            </a:extLst>
          </p:cNvPr>
          <p:cNvSpPr/>
          <p:nvPr/>
        </p:nvSpPr>
        <p:spPr>
          <a:xfrm>
            <a:off x="2017279" y="5594557"/>
            <a:ext cx="2957048" cy="74522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Drug Comparison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AC3DA3-3041-E9AD-A49E-08424A2DEB9B}"/>
              </a:ext>
            </a:extLst>
          </p:cNvPr>
          <p:cNvSpPr/>
          <p:nvPr/>
        </p:nvSpPr>
        <p:spPr>
          <a:xfrm>
            <a:off x="2017279" y="6655409"/>
            <a:ext cx="2957048" cy="74522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Dose-Response Simulation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CFC81B6-72FA-9C22-3A0C-788C688F9EA0}"/>
              </a:ext>
            </a:extLst>
          </p:cNvPr>
          <p:cNvSpPr/>
          <p:nvPr/>
        </p:nvSpPr>
        <p:spPr>
          <a:xfrm>
            <a:off x="2028646" y="7726298"/>
            <a:ext cx="2957048" cy="74522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Virtual Patients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BD6D1EA-17B9-E0BD-FBFE-69CE1693FD5B}"/>
              </a:ext>
            </a:extLst>
          </p:cNvPr>
          <p:cNvSpPr/>
          <p:nvPr/>
        </p:nvSpPr>
        <p:spPr>
          <a:xfrm>
            <a:off x="2029002" y="8787150"/>
            <a:ext cx="2957048" cy="74522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Clinical Trial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FA51D9-676E-F4E7-72D8-3FB4ED112A70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>
            <a:off x="3501899" y="4165183"/>
            <a:ext cx="12192" cy="31563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BAF134-45E2-D04B-099E-0231DC032DFB}"/>
              </a:ext>
            </a:extLst>
          </p:cNvPr>
          <p:cNvCxnSpPr>
            <a:cxnSpLocks/>
          </p:cNvCxnSpPr>
          <p:nvPr/>
        </p:nvCxnSpPr>
        <p:spPr>
          <a:xfrm>
            <a:off x="3489707" y="5221947"/>
            <a:ext cx="12192" cy="31563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DA53FE-BAF4-0D13-C3EE-4886D2A84662}"/>
              </a:ext>
            </a:extLst>
          </p:cNvPr>
          <p:cNvCxnSpPr>
            <a:cxnSpLocks/>
          </p:cNvCxnSpPr>
          <p:nvPr/>
        </p:nvCxnSpPr>
        <p:spPr>
          <a:xfrm>
            <a:off x="3477515" y="6278711"/>
            <a:ext cx="12192" cy="31563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D023D9-61FE-FCE9-6F69-F7420B12E648}"/>
              </a:ext>
            </a:extLst>
          </p:cNvPr>
          <p:cNvCxnSpPr>
            <a:cxnSpLocks/>
          </p:cNvCxnSpPr>
          <p:nvPr/>
        </p:nvCxnSpPr>
        <p:spPr>
          <a:xfrm>
            <a:off x="3465323" y="7335475"/>
            <a:ext cx="12192" cy="31563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68DA46B-2E32-D1F6-3796-F9C5F96AC613}"/>
              </a:ext>
            </a:extLst>
          </p:cNvPr>
          <p:cNvCxnSpPr>
            <a:cxnSpLocks/>
          </p:cNvCxnSpPr>
          <p:nvPr/>
        </p:nvCxnSpPr>
        <p:spPr>
          <a:xfrm>
            <a:off x="3453131" y="8392239"/>
            <a:ext cx="12192" cy="31563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33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1BB4D-15DE-4481-9C30-F58CF5EF8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2A80DCC6-7DFF-1778-5EA0-CEA10690E9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547" y="423767"/>
            <a:ext cx="16751439" cy="1296960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lnSpc>
                <a:spcPct val="100000"/>
              </a:lnSpc>
              <a:spcBef>
                <a:spcPts val="100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endParaRPr lang="en-IN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E09FCF5A-F9F7-1327-6023-76B3D0A02EA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7562" y="452035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CD449FC7-9C1A-C41B-8680-DFC6A04E749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A615FE-3AB3-EEE3-2D59-E1C7FB620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425" y="2283194"/>
            <a:ext cx="14830970" cy="741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1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DEF64-D522-6A71-57BF-59404EDF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F2718B2B-3819-A40B-AAE5-10EEE5942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547" y="516100"/>
            <a:ext cx="16751439" cy="1112294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spcBef>
                <a:spcPts val="100"/>
              </a:spcBef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Patient Medical Profile</a:t>
            </a:r>
            <a:endParaRPr lang="en-IN" sz="6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CECCE4BB-5C7A-24B8-828E-6169B91591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7540" y="520177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059FCD19-A04D-198C-7DC8-9211DDDD5DD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775EA6-8CB5-5372-EC3A-1E5B2093BEB1}"/>
              </a:ext>
            </a:extLst>
          </p:cNvPr>
          <p:cNvSpPr txBox="1"/>
          <p:nvPr/>
        </p:nvSpPr>
        <p:spPr>
          <a:xfrm>
            <a:off x="7086600" y="2323068"/>
            <a:ext cx="10339754" cy="7822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>
              <a:lnSpc>
                <a:spcPct val="150000"/>
              </a:lnSpc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collects and organizes the patient's information required for simulation.</a:t>
            </a:r>
          </a:p>
          <a:p>
            <a:pPr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demographics and vital signs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Kidney and liver condition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drug-processing category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health conditions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duration and severity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Allergy information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Current/previous medications </a:t>
            </a:r>
          </a:p>
          <a:p>
            <a:pPr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Patient Profile → Module 2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1454A6-4760-70D3-EFC8-004308D81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479055"/>
            <a:ext cx="5052646" cy="757896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D3EC20-D6A1-55FE-083F-C1982FD35DB9}"/>
              </a:ext>
            </a:extLst>
          </p:cNvPr>
          <p:cNvCxnSpPr>
            <a:cxnSpLocks/>
          </p:cNvCxnSpPr>
          <p:nvPr/>
        </p:nvCxnSpPr>
        <p:spPr>
          <a:xfrm>
            <a:off x="6705600" y="2479055"/>
            <a:ext cx="0" cy="75789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235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69530-9A13-D80A-04CD-2C5240902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598C0C74-77DC-1634-4EC0-EB9A3F6ACD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2941" y="617103"/>
            <a:ext cx="14164842" cy="2608088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spcBef>
                <a:spcPts val="100"/>
              </a:spcBef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Website Implementation</a:t>
            </a:r>
            <a:br>
              <a:rPr lang="en-IN" sz="5400" b="1" dirty="0"/>
            </a:br>
            <a:br>
              <a:rPr lang="en-IN" sz="5400" b="1" dirty="0"/>
            </a:br>
            <a:endParaRPr lang="en-IN" sz="5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7E0F665F-6A5A-259F-9D8E-3E2CA88E112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78387" y="432559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FCD85FC0-BB14-46EC-63A4-F5334942018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8D9CEC-4A16-BC81-0E46-213044F5C4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61"/>
          <a:stretch>
            <a:fillRect/>
          </a:stretch>
        </p:blipFill>
        <p:spPr>
          <a:xfrm>
            <a:off x="9438687" y="3774564"/>
            <a:ext cx="8193444" cy="1829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F65782-D62D-E4ED-CF6C-3FCEF7A1DA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29"/>
          <a:stretch>
            <a:fillRect/>
          </a:stretch>
        </p:blipFill>
        <p:spPr>
          <a:xfrm>
            <a:off x="332008" y="2946835"/>
            <a:ext cx="8827232" cy="3581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A0E77D-7BD2-8558-72E2-A6D7E7823C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29"/>
          <a:stretch>
            <a:fillRect/>
          </a:stretch>
        </p:blipFill>
        <p:spPr>
          <a:xfrm>
            <a:off x="9423447" y="5564209"/>
            <a:ext cx="8260923" cy="2667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23711D-A626-1E9D-F69B-1A20F4DC1F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29" b="45814"/>
          <a:stretch>
            <a:fillRect/>
          </a:stretch>
        </p:blipFill>
        <p:spPr>
          <a:xfrm>
            <a:off x="332008" y="6314558"/>
            <a:ext cx="8811992" cy="19033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B4D937-66FF-F5FC-ABFB-3CDCA2A7B9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568"/>
          <a:stretch>
            <a:fillRect/>
          </a:stretch>
        </p:blipFill>
        <p:spPr>
          <a:xfrm>
            <a:off x="9438687" y="2948095"/>
            <a:ext cx="8260923" cy="85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93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84496-2FE0-F2FB-542A-1A6E9ECA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59F88A0D-6650-9F96-CF31-B5DD7CA834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5400" y="574727"/>
            <a:ext cx="16751439" cy="1112294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spcBef>
                <a:spcPts val="100"/>
              </a:spcBef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Treatment &amp; Drug Selection</a:t>
            </a:r>
            <a:endParaRPr lang="en-IN" sz="6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3AB25A55-9948-369F-4C00-8AE96D9527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7540" y="520177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AE89C55B-DD46-D3D1-2D55-887D426676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491367-A9B3-0CC1-CA50-D3EF07B94DBD}"/>
              </a:ext>
            </a:extLst>
          </p:cNvPr>
          <p:cNvSpPr txBox="1"/>
          <p:nvPr/>
        </p:nvSpPr>
        <p:spPr>
          <a:xfrm>
            <a:off x="7240955" y="2323068"/>
            <a:ext cx="10339754" cy="8422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identifies the treatment area and provides suitable candidate drugs for simulation.</a:t>
            </a:r>
          </a:p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treatment/condition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or Experimental Drug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drug information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drug class and purpose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or two candidate drugs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Drug Candidate(s) → Module 3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Dosage selection is performed in Module 3.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CC40A9-8F62-027A-3EA9-32D7CD84DC7E}"/>
              </a:ext>
            </a:extLst>
          </p:cNvPr>
          <p:cNvCxnSpPr>
            <a:cxnSpLocks/>
          </p:cNvCxnSpPr>
          <p:nvPr/>
        </p:nvCxnSpPr>
        <p:spPr>
          <a:xfrm>
            <a:off x="6705600" y="2479055"/>
            <a:ext cx="0" cy="75789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49F8CD5-93F1-7F49-9584-145E536DE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25055"/>
            <a:ext cx="4767252" cy="715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05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FE20B-FC8A-4946-63C6-0A1B705A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076439C5-0FB1-80D2-319C-9E9CA6AD1E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2941" y="617103"/>
            <a:ext cx="14164842" cy="2608088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spcBef>
                <a:spcPts val="100"/>
              </a:spcBef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Website Implementation</a:t>
            </a:r>
            <a:br>
              <a:rPr lang="en-IN" sz="5400" b="1" dirty="0"/>
            </a:br>
            <a:br>
              <a:rPr lang="en-IN" sz="5400" b="1" dirty="0"/>
            </a:br>
            <a:endParaRPr lang="en-IN" sz="5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5887F670-6F55-BAB1-EEFB-B550E6BBC34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78387" y="432559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27333077-2840-28D6-B1AD-E4645FC8A71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D1FF2B-1C35-4018-CEF3-FFCEC90702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60795"/>
            <a:ext cx="7620000" cy="4048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FFDED-92CC-2D71-0E2C-C5E5E2B760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28"/>
          <a:stretch>
            <a:fillRect/>
          </a:stretch>
        </p:blipFill>
        <p:spPr>
          <a:xfrm>
            <a:off x="914400" y="5672040"/>
            <a:ext cx="7620000" cy="27232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C0F301-5AB2-91DC-6DAA-97EA466D9935}"/>
              </a:ext>
            </a:extLst>
          </p:cNvPr>
          <p:cNvSpPr txBox="1"/>
          <p:nvPr/>
        </p:nvSpPr>
        <p:spPr>
          <a:xfrm>
            <a:off x="9292034" y="2934418"/>
            <a:ext cx="8310166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Selection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 researcher selects the condition or treatment area.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Category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Existing or experimental drug can be selected.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Information Cards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Each drug displays its name, class, purpose, and simple explanation.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Comparison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One or two candidate drugs can be selected for comparison.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Context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 selected treatment is considered along with the patient profile from Module 1.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to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Selected drugs are passed to Module 3 for AI-based comparison and dose analysis.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E26F8C-7206-454D-52CA-841B82EB83E4}"/>
              </a:ext>
            </a:extLst>
          </p:cNvPr>
          <p:cNvCxnSpPr>
            <a:cxnSpLocks/>
          </p:cNvCxnSpPr>
          <p:nvPr/>
        </p:nvCxnSpPr>
        <p:spPr>
          <a:xfrm>
            <a:off x="8915400" y="2419480"/>
            <a:ext cx="0" cy="75789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135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13352-E933-2138-161D-8A565BB0F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90C59F60-C778-2808-A882-CC265CC12F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5401" y="403252"/>
            <a:ext cx="16751439" cy="1777092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spcBef>
                <a:spcPts val="100"/>
              </a:spcBef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AI Drug Comparison &amp; Dosage Prediction</a:t>
            </a:r>
            <a:endParaRPr lang="en-IN" sz="5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52923658-C2C1-7CAB-5A74-5A0E0646B78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7540" y="520177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D484A84A-DDE9-B668-2420-CE3956A0B5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E927CD-749D-E32C-E717-1E4980DB6669}"/>
              </a:ext>
            </a:extLst>
          </p:cNvPr>
          <p:cNvSpPr txBox="1"/>
          <p:nvPr/>
        </p:nvSpPr>
        <p:spPr>
          <a:xfrm>
            <a:off x="634967" y="7516574"/>
            <a:ext cx="7467600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is 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AI and simulation module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project.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2B8144-A905-979E-B4DC-3746289D9F54}"/>
              </a:ext>
            </a:extLst>
          </p:cNvPr>
          <p:cNvCxnSpPr>
            <a:cxnSpLocks/>
          </p:cNvCxnSpPr>
          <p:nvPr/>
        </p:nvCxnSpPr>
        <p:spPr>
          <a:xfrm>
            <a:off x="8350318" y="2714690"/>
            <a:ext cx="36900" cy="75723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6DC73CF-88A3-1EC3-55E2-126B2FFC6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714690"/>
            <a:ext cx="7286431" cy="48576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67B9E6-AD4B-8CE0-1303-7F4E92A46F87}"/>
              </a:ext>
            </a:extLst>
          </p:cNvPr>
          <p:cNvSpPr txBox="1"/>
          <p:nvPr/>
        </p:nvSpPr>
        <p:spPr>
          <a:xfrm>
            <a:off x="8855951" y="2274409"/>
            <a:ext cx="9159240" cy="777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profile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drug(s)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simulated dose levels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ML model + simplified PK/PD-style simulation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efficacy &amp; Simulated risk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indicators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comparison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Best simulated dose</a:t>
            </a:r>
          </a:p>
        </p:txBody>
      </p:sp>
    </p:spTree>
    <p:extLst>
      <p:ext uri="{BB962C8B-B14F-4D97-AF65-F5344CB8AC3E}">
        <p14:creationId xmlns:p14="http://schemas.microsoft.com/office/powerpoint/2010/main" val="3315584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21FE3-4B84-9831-92FD-C9798ECD8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0DDB457A-4D4A-042B-5055-327B8AE675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2941" y="617103"/>
            <a:ext cx="14164842" cy="2608088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spcBef>
                <a:spcPts val="100"/>
              </a:spcBef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Website Implementation</a:t>
            </a:r>
            <a:br>
              <a:rPr lang="en-IN" sz="5400" b="1" dirty="0"/>
            </a:br>
            <a:br>
              <a:rPr lang="en-IN" sz="5400" b="1" dirty="0"/>
            </a:br>
            <a:endParaRPr lang="en-IN" sz="5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B5B39177-8E06-4FAE-9996-642CDA83B92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78387" y="432559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9B1A4202-F733-ABEC-B0B9-907FE3378D7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B0DF1F-6ABA-6226-8E28-3ED6289472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69" y="2612816"/>
            <a:ext cx="7491684" cy="39799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A6177A-71C1-BA78-05D3-DF2FAE7AC4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23"/>
          <a:stretch>
            <a:fillRect/>
          </a:stretch>
        </p:blipFill>
        <p:spPr>
          <a:xfrm>
            <a:off x="655869" y="6502755"/>
            <a:ext cx="7491684" cy="31671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B852DF-88CE-7BC7-CB13-C3549054C1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894" y="2635676"/>
            <a:ext cx="8007042" cy="42537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9C2EAA-D0AE-0C08-D46A-86D2F14A6C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99"/>
          <a:stretch>
            <a:fillRect/>
          </a:stretch>
        </p:blipFill>
        <p:spPr>
          <a:xfrm>
            <a:off x="9110894" y="5130629"/>
            <a:ext cx="8007042" cy="377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10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29949-DD44-667B-6D21-097E4B00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82018745-20B9-815C-90C1-6E49811065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20177"/>
            <a:ext cx="16751439" cy="1777092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spcBef>
                <a:spcPts val="100"/>
              </a:spcBef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Virtual Clinical Trial &amp; </a:t>
            </a:r>
            <a:b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Analysis</a:t>
            </a:r>
            <a:endParaRPr lang="en-IN" sz="5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E8C98E8D-3EE4-C80A-0351-5C2427F148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7540" y="520177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638B4AAC-3FDD-64B1-5319-0FFA56D924E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42CAEF-BC86-3A1E-9420-0878B0EF0B8C}"/>
              </a:ext>
            </a:extLst>
          </p:cNvPr>
          <p:cNvSpPr txBox="1"/>
          <p:nvPr/>
        </p:nvSpPr>
        <p:spPr>
          <a:xfrm>
            <a:off x="9144000" y="2393679"/>
            <a:ext cx="10339754" cy="7083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virtual cohort size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synthetic patients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patient variability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selected drug and dose levels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population-level efficacy and risk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subgroup analysis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Trial Result + Population Analysis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43B77E-3BF4-E9ED-53F2-876B2C6AB988}"/>
              </a:ext>
            </a:extLst>
          </p:cNvPr>
          <p:cNvCxnSpPr>
            <a:cxnSpLocks/>
          </p:cNvCxnSpPr>
          <p:nvPr/>
        </p:nvCxnSpPr>
        <p:spPr>
          <a:xfrm>
            <a:off x="8610600" y="2625091"/>
            <a:ext cx="0" cy="75789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0D40450-70B3-F0B5-7502-D5098BE7A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45" y="3160705"/>
            <a:ext cx="7029450" cy="4686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C2406C-8B8E-E5A8-D755-A0D754AE9D93}"/>
              </a:ext>
            </a:extLst>
          </p:cNvPr>
          <p:cNvSpPr txBox="1"/>
          <p:nvPr/>
        </p:nvSpPr>
        <p:spPr>
          <a:xfrm>
            <a:off x="865314" y="7847005"/>
            <a:ext cx="6916611" cy="1698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Module 4 evaluates the selected treatment across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virtual patient population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35241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F9735-1267-49F6-AE3B-E35111F21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103897DD-B20E-958E-269F-87CE692DA2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2941" y="617103"/>
            <a:ext cx="14164842" cy="2608088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spcBef>
                <a:spcPts val="100"/>
              </a:spcBef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Website Implementation</a:t>
            </a:r>
            <a:br>
              <a:rPr lang="en-IN" sz="5400" b="1" dirty="0"/>
            </a:br>
            <a:br>
              <a:rPr lang="en-IN" sz="5400" b="1" dirty="0"/>
            </a:br>
            <a:endParaRPr lang="en-IN" sz="5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2AEAA8D1-1856-C79D-BDD4-232EC86435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78387" y="432559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F60847F0-4DA3-CEA9-9F8F-5EA1D577A47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A8A938-F8E8-21D3-441C-8E48947F80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61"/>
          <a:stretch>
            <a:fillRect/>
          </a:stretch>
        </p:blipFill>
        <p:spPr>
          <a:xfrm>
            <a:off x="609600" y="2621375"/>
            <a:ext cx="7537953" cy="31130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E11C53-F407-0143-9F65-95BD7941EF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46" b="31459"/>
          <a:stretch>
            <a:fillRect/>
          </a:stretch>
        </p:blipFill>
        <p:spPr>
          <a:xfrm>
            <a:off x="609599" y="5229463"/>
            <a:ext cx="7537954" cy="23232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092A72-69C9-A0C7-FCF0-3CD76E1E0E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23" b="7768"/>
          <a:stretch>
            <a:fillRect/>
          </a:stretch>
        </p:blipFill>
        <p:spPr>
          <a:xfrm>
            <a:off x="609599" y="7229492"/>
            <a:ext cx="7537954" cy="29313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C777B7-5733-9EB7-3A3F-9EA574EB3A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59"/>
          <a:stretch>
            <a:fillRect/>
          </a:stretch>
        </p:blipFill>
        <p:spPr>
          <a:xfrm>
            <a:off x="9387840" y="2550212"/>
            <a:ext cx="7327219" cy="31818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675B70-8B82-0CDA-DD53-784DC04D5B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" t="20716" r="-244" b="-1106"/>
          <a:stretch>
            <a:fillRect/>
          </a:stretch>
        </p:blipFill>
        <p:spPr>
          <a:xfrm>
            <a:off x="9387840" y="4795172"/>
            <a:ext cx="7327219" cy="31918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896FA5-A3C6-7464-FDC2-6F33703F6D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47"/>
          <a:stretch>
            <a:fillRect/>
          </a:stretch>
        </p:blipFill>
        <p:spPr>
          <a:xfrm>
            <a:off x="9387840" y="6475985"/>
            <a:ext cx="7327219" cy="315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48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3AE9-8A26-78F4-0E83-F39ABE936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5812421C-CD71-1B25-C208-5C57E3BF3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762000" y="653752"/>
            <a:ext cx="18287999" cy="1029195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spcBef>
                <a:spcPts val="100"/>
              </a:spcBef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sz="5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6DBDD892-FF15-FCFE-9735-2E12611D6E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30600" y="325613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BF10338E-D406-C617-B237-FBCA680F9A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E49609-6893-A802-3FC6-5E69BC082348}"/>
              </a:ext>
            </a:extLst>
          </p:cNvPr>
          <p:cNvSpPr txBox="1"/>
          <p:nvPr/>
        </p:nvSpPr>
        <p:spPr>
          <a:xfrm>
            <a:off x="609600" y="1912932"/>
            <a:ext cx="16230600" cy="7390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Profiling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Successfully captures patient demographics, conditions, allergies, and medication history.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Comparison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Compares one or two candidate drugs using patient-specific factors.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Prediction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Evaluates different dose levels using the ML model and simulation.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Dose-Response Analysis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Generates simulated efficacy, risk, exposure, and overall scores.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Simulated Dose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Identifies the dose with the highest simulated benefit-risk balance. 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Trial Analysis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Evaluates treatment performance across the synthetic population.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Trial Result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Provides a consolidated summary of the selected drug, dose, efficacy, risk, and overall performance. </a:t>
            </a:r>
          </a:p>
        </p:txBody>
      </p:sp>
    </p:spTree>
    <p:extLst>
      <p:ext uri="{BB962C8B-B14F-4D97-AF65-F5344CB8AC3E}">
        <p14:creationId xmlns:p14="http://schemas.microsoft.com/office/powerpoint/2010/main" val="3458648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2A46-9F53-830D-8B76-CF766EA8E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3F4DE458-4D49-9DCB-2570-48450DC315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647700"/>
            <a:ext cx="14164842" cy="1112294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lnSpc>
                <a:spcPct val="100000"/>
              </a:lnSpc>
              <a:spcBef>
                <a:spcPts val="100"/>
              </a:spcBef>
            </a:pPr>
            <a:r>
              <a:rPr lang="en-IN" sz="5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Disadvantages</a:t>
            </a: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421BB8A5-6411-F7E8-E21F-6B1BDE6838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78387" y="432559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34D54AE6-E7DB-419D-EC1B-8C0E37428DC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9A4188-1331-97A6-E08E-CAE14F40B78E}"/>
              </a:ext>
            </a:extLst>
          </p:cNvPr>
          <p:cNvSpPr txBox="1"/>
          <p:nvPr/>
        </p:nvSpPr>
        <p:spPr>
          <a:xfrm>
            <a:off x="609600" y="3086100"/>
            <a:ext cx="7696200" cy="611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Patient-specific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considers individual patient characteristics.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comparison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evaluates multiple candidate drugs.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Dose-response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compares different simulated dose levels.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population testing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evaluates treatment across virtual patients.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graphs make results easier to interpret.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simulation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supports different patient and treatment scenarios.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5583C-EDB7-C098-7A4D-9D6F5CC159CD}"/>
              </a:ext>
            </a:extLst>
          </p:cNvPr>
          <p:cNvSpPr txBox="1"/>
          <p:nvPr/>
        </p:nvSpPr>
        <p:spPr>
          <a:xfrm>
            <a:off x="8610600" y="3086100"/>
            <a:ext cx="90678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Uses virtual patient data.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PK/PD simulation is simplified.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drugs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Only a small set of drugs is included in the current prototype.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dependent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Prediction quality depends on the training and simulation data used.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validation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Results have not been validated against real clinical outcomes.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use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 system is designed for academic simulation.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D0960C-22B9-70F8-8D09-D3F494735C8A}"/>
              </a:ext>
            </a:extLst>
          </p:cNvPr>
          <p:cNvCxnSpPr>
            <a:cxnSpLocks/>
          </p:cNvCxnSpPr>
          <p:nvPr/>
        </p:nvCxnSpPr>
        <p:spPr>
          <a:xfrm>
            <a:off x="8610600" y="2625091"/>
            <a:ext cx="0" cy="75789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677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B4AD-D54B-BF90-7B9B-498C89E4A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0EBC3CBE-3D50-C3DC-3855-23EB42ACAC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647700"/>
            <a:ext cx="14164842" cy="1112294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lnSpc>
                <a:spcPct val="100000"/>
              </a:lnSpc>
              <a:spcBef>
                <a:spcPts val="100"/>
              </a:spcBef>
            </a:pPr>
            <a:r>
              <a:rPr lang="en-IN" sz="5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92A4B54E-1BF3-D4D6-44E4-291DEDF6A2F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78387" y="432559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DF37836F-066E-9F37-6D6A-EC5E1B2D0E0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29A6D3-7BE6-F116-B8B1-92CBA99B47C9}"/>
              </a:ext>
            </a:extLst>
          </p:cNvPr>
          <p:cNvSpPr txBox="1"/>
          <p:nvPr/>
        </p:nvSpPr>
        <p:spPr>
          <a:xfrm>
            <a:off x="965547" y="2643413"/>
            <a:ext cx="16356906" cy="8129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Clinical Data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validated clinical and pharmacokinetic datasets for improved model training.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Digital Twins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more detailed patient-specific virtual models.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Therapy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simulate multiple drugs together.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Models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deep learning, Bayesian methods and generative models.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Validation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simulation results with validated clinical outcomes.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026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8366-DA8B-77DE-5717-FEA28374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5CCDA3BC-3367-08DB-684F-54725E9F1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647700"/>
            <a:ext cx="14164842" cy="1112294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lnSpc>
                <a:spcPct val="100000"/>
              </a:lnSpc>
              <a:spcBef>
                <a:spcPts val="100"/>
              </a:spcBef>
            </a:pPr>
            <a:r>
              <a:rPr lang="en-IN" sz="5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76708726-4BB0-2883-5E2A-C9E8EBDDC8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78387" y="432559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6ED27FDE-A83C-34C5-031A-4C4DB0C7FD7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6CB769-4E71-1E88-1790-0998E3578BEB}"/>
              </a:ext>
            </a:extLst>
          </p:cNvPr>
          <p:cNvSpPr txBox="1"/>
          <p:nvPr/>
        </p:nvSpPr>
        <p:spPr>
          <a:xfrm>
            <a:off x="1219200" y="3162300"/>
            <a:ext cx="15849600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proposed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Virtual Clinical Trial Simulator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patient medical information, treatment and drug selection, AI-based drug comparison, dose-response simulation, and synthetic virtual clinical trials into a single platform. The system provides both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patient-level and population-level analysis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simulated efficacy and risk, helping demonstrate how AI and in-silico methods can support early-stage drug and dosage evaluation. The developed prototype is intended for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and research simulation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for clinical prescribing or real-world dosage decisions.</a:t>
            </a:r>
          </a:p>
        </p:txBody>
      </p:sp>
    </p:spTree>
    <p:extLst>
      <p:ext uri="{BB962C8B-B14F-4D97-AF65-F5344CB8AC3E}">
        <p14:creationId xmlns:p14="http://schemas.microsoft.com/office/powerpoint/2010/main" val="3590552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C3FE6-2E50-7349-EA7A-C97D58AB1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6F252EAE-047C-3E15-A59D-446D3D2383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689249"/>
            <a:ext cx="14164842" cy="1029195"/>
          </a:xfrm>
          <a:prstGeom prst="rect">
            <a:avLst/>
          </a:prstGeom>
        </p:spPr>
        <p:txBody>
          <a:bodyPr vert="horz" wrap="square" lIns="0" tIns="278577" rIns="0" bIns="0" rtlCol="0">
            <a:spAutoFit/>
          </a:bodyPr>
          <a:lstStyle/>
          <a:p>
            <a:pPr marL="1896110" algn="ctr">
              <a:spcBef>
                <a:spcPts val="100"/>
              </a:spcBef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5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BCA68CE6-BFB3-FE95-C0F3-85CD343194A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78387" y="432559"/>
            <a:ext cx="1802891" cy="1802891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27741B6B-9D6D-5D38-2C3D-8A888CF9AF1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423767"/>
            <a:ext cx="1528657" cy="1995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6684B0-94B8-CD94-F661-6CFA9DE288FE}"/>
              </a:ext>
            </a:extLst>
          </p:cNvPr>
          <p:cNvSpPr txBox="1"/>
          <p:nvPr/>
        </p:nvSpPr>
        <p:spPr>
          <a:xfrm>
            <a:off x="965547" y="2857500"/>
            <a:ext cx="16356906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Bordukova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“Generative artificial intelligence empowers digital twins in drug discovery and clinical trials,”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Opinion on Drug Discovery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P. Ranganathan, R. Aggarwal, and C. S. Pramesh, “Virtual clinical trials,”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Perspectives in Clinical Research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Mtshali and B. A. Jacobs, “Machine learning-based prediction of pharmacokinetic parameters for individualized drug dosage optimization,”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Information Technology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U.S. Food and Drug Administration, “Considerations for the Use of Artificial Intelligence to Support Regulatory Decision-Making for Drug and Biological Products,” 2025.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Relevant recent literature on synthetic patients and virtual clinical trials, 2024.</a:t>
            </a:r>
          </a:p>
        </p:txBody>
      </p:sp>
    </p:spTree>
    <p:extLst>
      <p:ext uri="{BB962C8B-B14F-4D97-AF65-F5344CB8AC3E}">
        <p14:creationId xmlns:p14="http://schemas.microsoft.com/office/powerpoint/2010/main" val="3850335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314601" y="4057105"/>
            <a:ext cx="5658485" cy="15202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9800" b="1" i="1" spc="-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800" b="1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9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1211</TotalTime>
  <Words>1331</Words>
  <Application>Microsoft Office PowerPoint</Application>
  <PresentationFormat>Custom</PresentationFormat>
  <Paragraphs>169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Times New Roman Bold</vt:lpstr>
      <vt:lpstr>Office Theme</vt:lpstr>
      <vt:lpstr>PowerPoint Presentation</vt:lpstr>
      <vt:lpstr>Introduction</vt:lpstr>
      <vt:lpstr>Problem Statement</vt:lpstr>
      <vt:lpstr>Objective</vt:lpstr>
      <vt:lpstr>Proposed System</vt:lpstr>
      <vt:lpstr>System architecture </vt:lpstr>
      <vt:lpstr>Module 1: Patient Medical Profile</vt:lpstr>
      <vt:lpstr>Module 1 – Website Implementation  </vt:lpstr>
      <vt:lpstr>Module 2: Treatment &amp; Drug Selection</vt:lpstr>
      <vt:lpstr>Module 2 – Website Implementation  </vt:lpstr>
      <vt:lpstr>Module 3: AI Drug Comparison &amp; Dosage Prediction</vt:lpstr>
      <vt:lpstr>Module 3 – Website Implementation  </vt:lpstr>
      <vt:lpstr>Module 4: Virtual Clinical Trial &amp;  Final Analysis</vt:lpstr>
      <vt:lpstr>Module 4 – Website Implementation  </vt:lpstr>
      <vt:lpstr>Result</vt:lpstr>
      <vt:lpstr>Advantages &amp; Disadvantages</vt:lpstr>
      <vt:lpstr>Future Scope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SENSING AND TRACKING (1).pptx</dc:title>
  <dc:creator>Sindhuja Velu</dc:creator>
  <cp:keywords>DAHALpnrCU8,BAGvvfG2YoQ,0</cp:keywords>
  <cp:lastModifiedBy>Sowmiya D</cp:lastModifiedBy>
  <cp:revision>9</cp:revision>
  <dcterms:created xsi:type="dcterms:W3CDTF">2026-08-05T01:48:09Z</dcterms:created>
  <dcterms:modified xsi:type="dcterms:W3CDTF">2026-09-06T12:32:43Z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2026-02-02T00:00:00Z</vt:filetime>
  </property>
  <property fmtid="{D5CDD505-2E9C-101B-9397-08002B2CF9AE}" pid="4" name="Creator">
    <vt:lpwstr>Canva</vt:lpwstr>
  </property>
  <property fmtid="{D5CDD505-2E9C-101B-9397-08002B2CF9AE}" pid="5" name="LastSaved">
    <vt:filetime>2026-08-05T00:00:00Z</vt:filetime>
  </property>
  <property fmtid="{D5CDD505-2E9C-101B-9397-08002B2CF9AE}" pid="6" name="Producer">
    <vt:lpwstr>Canva</vt:lpwstr>
  </property>
</Properties>
</file>